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2" r:id="rId3"/>
  </p:sldMasterIdLst>
  <p:sldIdLst>
    <p:sldId id="256" r:id="rId4"/>
    <p:sldId id="258" r:id="rId5"/>
    <p:sldId id="257" r:id="rId6"/>
    <p:sldId id="276" r:id="rId7"/>
    <p:sldId id="259" r:id="rId8"/>
    <p:sldId id="277" r:id="rId9"/>
    <p:sldId id="278" r:id="rId10"/>
    <p:sldId id="262" r:id="rId11"/>
    <p:sldId id="260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1" r:id="rId23"/>
    <p:sldId id="289" r:id="rId24"/>
    <p:sldId id="290" r:id="rId25"/>
    <p:sldId id="291" r:id="rId26"/>
    <p:sldId id="292" r:id="rId27"/>
    <p:sldId id="293" r:id="rId28"/>
    <p:sldId id="294" r:id="rId29"/>
    <p:sldId id="312" r:id="rId30"/>
    <p:sldId id="295" r:id="rId31"/>
    <p:sldId id="296" r:id="rId32"/>
    <p:sldId id="297" r:id="rId33"/>
    <p:sldId id="298" r:id="rId34"/>
    <p:sldId id="300" r:id="rId35"/>
    <p:sldId id="299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1" r:id="rId45"/>
    <p:sldId id="275" r:id="rId4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9;p2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7" name="Google Shape;10;p2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11;p2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5805360" y="1317240"/>
            <a:ext cx="2831400" cy="264780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6960" y="849600"/>
            <a:ext cx="5060520" cy="246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" name="Google Shape;15;p2"/>
          <p:cNvPicPr/>
          <p:nvPr/>
        </p:nvPicPr>
        <p:blipFill>
          <a:blip r:embed="rId3"/>
          <a:srcRect l="61974"/>
          <a:stretch/>
        </p:blipFill>
        <p:spPr>
          <a:xfrm>
            <a:off x="5805360" y="1051560"/>
            <a:ext cx="2831400" cy="265320"/>
          </a:xfrm>
          <a:prstGeom prst="rect">
            <a:avLst/>
          </a:prstGeom>
          <a:noFill/>
          <a:ln w="9525">
            <a:solidFill>
              <a:srgbClr val="707070"/>
            </a:solidFill>
            <a:rou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71;p11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7" name="Google Shape;72;p11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" name="Google Shape;73;p11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113;p17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34" name="Google Shape;114;p17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" name="Google Shape;115;p17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144;p20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53" name="Google Shape;145;p20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" name="Google Shape;146;p20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92720" y="974880"/>
            <a:ext cx="38761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4298760" y="2743560"/>
            <a:ext cx="392868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17;p3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58" name="Google Shape;18;p3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Google Shape;19;p3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0" name="Google Shape;20;p3"/>
          <p:cNvPicPr/>
          <p:nvPr/>
        </p:nvPicPr>
        <p:blipFill>
          <a:blip r:embed="rId4"/>
          <a:stretch/>
        </p:blipFill>
        <p:spPr>
          <a:xfrm>
            <a:off x="3233160" y="3371400"/>
            <a:ext cx="5515200" cy="13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Google Shape;21;p3"/>
          <p:cNvPicPr/>
          <p:nvPr/>
        </p:nvPicPr>
        <p:blipFill>
          <a:blip r:embed="rId5"/>
          <a:stretch/>
        </p:blipFill>
        <p:spPr>
          <a:xfrm>
            <a:off x="555480" y="817920"/>
            <a:ext cx="5398920" cy="30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60480" y="1532520"/>
            <a:ext cx="3458520" cy="15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779760" y="1910880"/>
            <a:ext cx="777960" cy="76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387120" y="947160"/>
            <a:ext cx="2107080" cy="206712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152;p21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66" name="Google Shape;153;p21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Google Shape;154;p21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69600" y="1143000"/>
            <a:ext cx="3852000" cy="56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69" name="Google Shape;157;p21"/>
          <p:cNvPicPr/>
          <p:nvPr/>
        </p:nvPicPr>
        <p:blipFill>
          <a:blip r:embed="rId4"/>
          <a:srcRect l="19759" t="14674" r="19444" b="47101"/>
          <a:stretch/>
        </p:blipFill>
        <p:spPr>
          <a:xfrm>
            <a:off x="4549320" y="1778400"/>
            <a:ext cx="3952800" cy="248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58;p21"/>
          <p:cNvSpPr/>
          <p:nvPr/>
        </p:nvSpPr>
        <p:spPr>
          <a:xfrm>
            <a:off x="4865400" y="2464560"/>
            <a:ext cx="332028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5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6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160;p22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72" name="Google Shape;161;p22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3" name="Google Shape;162;p22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27;p4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75" name="Google Shape;28;p4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6" name="Google Shape;29;p4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41;p6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83" name="Google Shape;42;p6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4" name="Google Shape;43;p6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46000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6" name="Google Shape;45;p6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47;p7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88" name="Google Shape;48;p7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" name="Google Shape;49;p7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54;p8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94" name="Google Shape;55;p8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5" name="Google Shape;56;p8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59;p9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98" name="Google Shape;60;p9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9" name="Google Shape;61;p9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8;p13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45316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342000" y="3849480"/>
            <a:ext cx="765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342000" y="2560680"/>
            <a:ext cx="765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342720" y="1916640"/>
            <a:ext cx="7639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342000" y="3205080"/>
            <a:ext cx="765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title"/>
          </p:nvPr>
        </p:nvSpPr>
        <p:spPr>
          <a:xfrm>
            <a:off x="3985920" y="25610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title"/>
          </p:nvPr>
        </p:nvSpPr>
        <p:spPr>
          <a:xfrm>
            <a:off x="3985920" y="3205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title"/>
          </p:nvPr>
        </p:nvSpPr>
        <p:spPr>
          <a:xfrm>
            <a:off x="3985920" y="38494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title"/>
          </p:nvPr>
        </p:nvSpPr>
        <p:spPr>
          <a:xfrm>
            <a:off x="3985920" y="19166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7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96;p13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98;p14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79320" y="794520"/>
            <a:ext cx="786636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3" name="Google Shape;101;p14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3;p15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89360" y="795960"/>
            <a:ext cx="4547520" cy="125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89360" y="2229480"/>
            <a:ext cx="4939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22360" y="1195200"/>
            <a:ext cx="2946960" cy="3341160"/>
          </a:xfrm>
          <a:prstGeom prst="rect">
            <a:avLst/>
          </a:prstGeom>
          <a:noFill/>
          <a:ln w="936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9" name="Google Shape;107;p15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109;p16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42000" y="689760"/>
            <a:ext cx="84600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2" name="Google Shape;111;p16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18;p18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44600" y="1706400"/>
            <a:ext cx="6984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342000" y="1706400"/>
            <a:ext cx="6973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5948280" y="1706400"/>
            <a:ext cx="6984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342000" y="654840"/>
            <a:ext cx="8249400" cy="60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2" name="Google Shape;126;p18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28;p19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770364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6132600" y="3071520"/>
            <a:ext cx="25743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title"/>
          </p:nvPr>
        </p:nvSpPr>
        <p:spPr>
          <a:xfrm>
            <a:off x="6132600" y="1677240"/>
            <a:ext cx="25743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3240000" y="1677600"/>
            <a:ext cx="25743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title"/>
          </p:nvPr>
        </p:nvSpPr>
        <p:spPr>
          <a:xfrm>
            <a:off x="3237840" y="3071520"/>
            <a:ext cx="25790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title"/>
          </p:nvPr>
        </p:nvSpPr>
        <p:spPr>
          <a:xfrm>
            <a:off x="342720" y="1677240"/>
            <a:ext cx="25790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title"/>
          </p:nvPr>
        </p:nvSpPr>
        <p:spPr>
          <a:xfrm>
            <a:off x="342720" y="3071520"/>
            <a:ext cx="25790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3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2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1" name="Google Shape;142;p19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33;p5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57340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1" name="Google Shape;39;p5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66;p10"/>
          <p:cNvPicPr/>
          <p:nvPr/>
        </p:nvPicPr>
        <p:blipFill>
          <a:blip r:embed="rId2"/>
          <a:stretch/>
        </p:blipFill>
        <p:spPr>
          <a:xfrm>
            <a:off x="84960" y="78480"/>
            <a:ext cx="8973720" cy="492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body"/>
          </p:nvPr>
        </p:nvSpPr>
        <p:spPr>
          <a:xfrm>
            <a:off x="191520" y="686160"/>
            <a:ext cx="8757720" cy="412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6584040" y="3792960"/>
            <a:ext cx="2003760" cy="694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04" name="Google Shape;69;p10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6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7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79;p28"/>
          <p:cNvPicPr/>
          <p:nvPr/>
        </p:nvPicPr>
        <p:blipFill>
          <a:blip r:embed="rId2"/>
          <a:srcRect l="31656" t="9673" r="9488"/>
          <a:stretch/>
        </p:blipFill>
        <p:spPr>
          <a:xfrm>
            <a:off x="5805360" y="1317240"/>
            <a:ext cx="2831400" cy="2647800"/>
          </a:xfrm>
          <a:prstGeom prst="rect">
            <a:avLst/>
          </a:prstGeom>
          <a:noFill/>
          <a:ln w="19050">
            <a:solidFill>
              <a:srgbClr val="707070"/>
            </a:solidFill>
            <a:round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847800"/>
            <a:ext cx="5057280" cy="24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6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Azure</a:t>
            </a:r>
            <a:endParaRPr lang="fr-FR" sz="5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6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 Project</a:t>
            </a:r>
            <a:endParaRPr lang="fr-FR" sz="5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609480" y="3362400"/>
            <a:ext cx="435240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Lynn Haydar 202212989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Professor: Dr. Hussein Lakkis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Deploy Cloud App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Efficiently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Google Shape;182;p28"/>
          <p:cNvSpPr/>
          <p:nvPr/>
        </p:nvSpPr>
        <p:spPr>
          <a:xfrm>
            <a:off x="438120" y="209520"/>
            <a:ext cx="447624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Write your Name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ubTitle"/>
          </p:nvPr>
        </p:nvSpPr>
        <p:spPr>
          <a:xfrm>
            <a:off x="3467160" y="3914640"/>
            <a:ext cx="5171760" cy="3785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algn="ctr"/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Go to DevOps and create a new project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1857240" y="1533600"/>
            <a:ext cx="3457080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Project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 Setup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781200" y="1914480"/>
            <a:ext cx="78084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VT323"/>
              </a:rPr>
              <a:t>01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0" name="Google Shape;263;p32"/>
          <p:cNvGrpSpPr/>
          <p:nvPr/>
        </p:nvGrpSpPr>
        <p:grpSpPr>
          <a:xfrm>
            <a:off x="6386760" y="947160"/>
            <a:ext cx="2107080" cy="265320"/>
            <a:chOff x="6386760" y="947160"/>
            <a:chExt cx="2107080" cy="265320"/>
          </a:xfrm>
        </p:grpSpPr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979640" y="584453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Creating a new Project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73622-68AE-F75A-3170-E288485F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17" y="1344054"/>
            <a:ext cx="7013678" cy="32797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7609-D5EC-9B68-805E-B4518FF59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B1A0793F-EB49-9356-56DC-2E14891A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40" y="584453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Add tasks in Azure Boards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59940E-C8B5-A9B9-AEB6-B1A496C8F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300" y="1386325"/>
            <a:ext cx="6593400" cy="317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08440" y="682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Boards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4CF76-2B7F-D52E-1843-FBF930E7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0" y="1550940"/>
            <a:ext cx="2823940" cy="2989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7A283-9169-3807-6F5D-DB69D4815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290" y="1450560"/>
            <a:ext cx="3028740" cy="3090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33C6F9-D531-9DC5-1D1C-A6ABC4285C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92"/>
          <a:stretch>
            <a:fillRect/>
          </a:stretch>
        </p:blipFill>
        <p:spPr>
          <a:xfrm>
            <a:off x="6212810" y="1450560"/>
            <a:ext cx="2674450" cy="319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6C880-5DB0-0D5F-D216-CDC02A15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335B4297-9B3C-C500-C185-ACC3D93F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40" y="682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Boards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F3E23E-6DAD-FF72-6A49-F55B779B1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0" y="1377360"/>
            <a:ext cx="2976060" cy="3190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97A453-1C1A-FF28-B215-6D92FA2E9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422" t="-2001" r="7905" b="2001"/>
          <a:stretch>
            <a:fillRect/>
          </a:stretch>
        </p:blipFill>
        <p:spPr>
          <a:xfrm>
            <a:off x="3022277" y="1418055"/>
            <a:ext cx="2872425" cy="2957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875D6-DEDA-99E8-FC4D-8326F1618B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92"/>
          <a:stretch>
            <a:fillRect/>
          </a:stretch>
        </p:blipFill>
        <p:spPr>
          <a:xfrm>
            <a:off x="5959503" y="1418055"/>
            <a:ext cx="2872426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2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9E6D-25BC-21DB-C2F6-43A8605D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5CC6ADAD-1C24-EF63-973B-500E1FCD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40" y="682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Boards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B686A-5B10-6DA0-5E0D-FB84D8D4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90" y="1467480"/>
            <a:ext cx="3436620" cy="3101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2E8C36-7337-38EE-97FD-4CCC5BBA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80" y="1467480"/>
            <a:ext cx="3444240" cy="30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259;p32"/>
          <p:cNvPicPr/>
          <p:nvPr/>
        </p:nvPicPr>
        <p:blipFill>
          <a:blip r:embed="rId2"/>
          <a:srcRect l="20933" r="20933"/>
          <a:stretch/>
        </p:blipFill>
        <p:spPr>
          <a:xfrm flipH="1">
            <a:off x="6387120" y="947160"/>
            <a:ext cx="2107080" cy="2067120"/>
          </a:xfrm>
          <a:prstGeom prst="rect">
            <a:avLst/>
          </a:prstGeom>
          <a:noFill/>
          <a:ln w="19050">
            <a:solidFill>
              <a:srgbClr val="707070"/>
            </a:solidFill>
            <a:round/>
          </a:ln>
        </p:spPr>
      </p:pic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3467160" y="3914640"/>
            <a:ext cx="5171760" cy="3785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algn="ctr"/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Log in to the Azure Portal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title"/>
          </p:nvPr>
        </p:nvSpPr>
        <p:spPr>
          <a:xfrm>
            <a:off x="1857240" y="1533600"/>
            <a:ext cx="3457080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lvl="0"/>
            <a:r>
              <a:rPr lang="en-US" dirty="0"/>
              <a:t>Create Azure Resources</a:t>
            </a:r>
          </a:p>
        </p:txBody>
      </p:sp>
      <p:sp>
        <p:nvSpPr>
          <p:cNvPr id="132" name="PlaceHolder 3"/>
          <p:cNvSpPr>
            <a:spLocks noGrp="1"/>
          </p:cNvSpPr>
          <p:nvPr>
            <p:ph type="title"/>
          </p:nvPr>
        </p:nvSpPr>
        <p:spPr>
          <a:xfrm>
            <a:off x="781200" y="1914480"/>
            <a:ext cx="78084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VT323"/>
              </a:rPr>
              <a:t>02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263;p32"/>
          <p:cNvGrpSpPr/>
          <p:nvPr/>
        </p:nvGrpSpPr>
        <p:grpSpPr>
          <a:xfrm>
            <a:off x="6386760" y="947160"/>
            <a:ext cx="2107080" cy="265320"/>
            <a:chOff x="6386760" y="947160"/>
            <a:chExt cx="2107080" cy="265320"/>
          </a:xfrm>
        </p:grpSpPr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Resource Group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26C8C-BF74-A01D-B7C7-89B2ADE3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60" y="1305360"/>
            <a:ext cx="3776340" cy="3396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0B76A5-53EC-EF00-5F32-81D327EC3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530" y="1757826"/>
            <a:ext cx="4015740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C2F1-A0DB-4DE2-4B0A-8FC53B97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152CEFB3-872E-964C-8BC9-238C4775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Storage Account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C5A6C4-C5FA-2062-4098-102C4DED5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00" y="1245600"/>
            <a:ext cx="4340440" cy="3406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E178A-632F-EAA4-7D87-1D9B725D36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762"/>
          <a:stretch>
            <a:fillRect/>
          </a:stretch>
        </p:blipFill>
        <p:spPr>
          <a:xfrm>
            <a:off x="4723840" y="1940400"/>
            <a:ext cx="3461400" cy="245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4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EBA40-3F48-894E-A6F3-4562D45B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D99130BE-93CB-1D2B-AB21-0ED1CB2A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latin typeface="VT323"/>
              </a:rPr>
              <a:t>Create Azure SQL Server + DB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A736E-6897-AD98-CB79-CCFF33CCD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61" y="1247760"/>
            <a:ext cx="4102200" cy="348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CF65D5-B2EE-B584-E6F1-F2B70D6F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200" y="1629280"/>
            <a:ext cx="4619439" cy="26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2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2243-674A-F3C2-84AB-687C6CF9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F3E82D4A-BB1B-687A-7D32-346D9202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latin typeface="VT323"/>
              </a:rPr>
              <a:t>Create Azure SQL Server + DB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001720-FC43-EB24-E638-8C65E1C34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22" b="30543"/>
          <a:stretch>
            <a:fillRect/>
          </a:stretch>
        </p:blipFill>
        <p:spPr>
          <a:xfrm>
            <a:off x="261000" y="1382400"/>
            <a:ext cx="4619439" cy="297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7DBA5D-3E70-A936-AF71-1711A6330E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43" t="-4501" r="14143" b="4501"/>
          <a:stretch>
            <a:fillRect/>
          </a:stretch>
        </p:blipFill>
        <p:spPr>
          <a:xfrm>
            <a:off x="3954600" y="1305360"/>
            <a:ext cx="4729839" cy="3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34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185F7-4F49-A4C1-A0F0-265B234D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630F39F4-9CB3-B12F-EFA9-76396419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latin typeface="VT323"/>
              </a:rPr>
              <a:t>Create Azure SQL Server + DB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4B1F4-FD85-1C96-9457-3C18F2479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00" y="1576800"/>
            <a:ext cx="6996246" cy="256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87733-E15A-0244-99B5-341BA4AE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BDDFD33C-D6D7-B7C7-B1A8-2E648706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the Messages Table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879368-4184-4C70-4F48-9B0C1951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99" y="1389601"/>
            <a:ext cx="6485537" cy="299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6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21D9-63E2-4D18-6165-04327086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140915E0-F839-C8BB-26ED-30E43251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Writing Query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B8345-9E33-FE98-A07D-33742F6550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00" y="1305360"/>
            <a:ext cx="6984000" cy="339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4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9BA7-D967-AD37-DA3A-98E0CDF0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342B5714-31D4-DFB9-955A-D2D94ACC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the Key Vault + Add Secrets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A25611-3988-C30B-B13F-E84AEAB3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67608"/>
            <a:ext cx="4038600" cy="2989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B0B99C-D419-B553-0580-4510DA8E1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918" y="1228608"/>
            <a:ext cx="4109466" cy="30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11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07B3-8EBC-02EC-78D2-369E69066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8F2558B2-D73C-8A65-8A79-4B5F8EA3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the Key Vault + Add Secrets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6A4AF-EA84-6E53-C072-AE9A7CD0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231"/>
          <a:stretch>
            <a:fillRect/>
          </a:stretch>
        </p:blipFill>
        <p:spPr>
          <a:xfrm>
            <a:off x="1176529" y="1305360"/>
            <a:ext cx="2651759" cy="29477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071BF6-7B3E-11B8-E97D-9D074E1E8D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56330"/>
          <a:stretch>
            <a:fillRect/>
          </a:stretch>
        </p:blipFill>
        <p:spPr>
          <a:xfrm>
            <a:off x="4851520" y="1390055"/>
            <a:ext cx="2945263" cy="325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68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EE98E-E299-D8AF-A375-595A0244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77B7DC8E-5363-626C-8BFF-0058850CB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the Key Vault + Add Secrets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5202F2-175E-6718-7116-675B752614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61"/>
          <a:stretch>
            <a:fillRect/>
          </a:stretch>
        </p:blipFill>
        <p:spPr>
          <a:xfrm>
            <a:off x="466344" y="1571815"/>
            <a:ext cx="3538728" cy="2585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3F0ED-F218-3D6C-CE11-C3F775252C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13" t="-1571" r="51026" b="1571"/>
          <a:stretch>
            <a:fillRect/>
          </a:stretch>
        </p:blipFill>
        <p:spPr>
          <a:xfrm>
            <a:off x="4572000" y="1571815"/>
            <a:ext cx="2941320" cy="250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70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525A-E4CA-6B84-753E-9A213420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>
            <a:extLst>
              <a:ext uri="{FF2B5EF4-FFF2-40B4-BE49-F238E27FC236}">
                <a16:creationId xmlns:a16="http://schemas.microsoft.com/office/drawing/2014/main" id="{43FD6118-EE7F-6655-7EDE-900D5B25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40" y="610560"/>
            <a:ext cx="78674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the Azure Web App Node.js </a:t>
            </a:r>
            <a:endParaRPr lang="fr-FR" sz="3200" u="none" strike="noStrike" dirty="0">
              <a:solidFill>
                <a:schemeClr val="dk1"/>
              </a:solidFill>
              <a:effectLst/>
              <a:uFillTx/>
              <a:latin typeface="VT323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A034-DC30-E9FA-9650-6F6573DA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00" y="1212645"/>
            <a:ext cx="4037400" cy="34581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405839-6600-8EE6-EFA5-3DB3C4686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007"/>
          <a:stretch>
            <a:fillRect/>
          </a:stretch>
        </p:blipFill>
        <p:spPr>
          <a:xfrm>
            <a:off x="4572000" y="1691327"/>
            <a:ext cx="3684600" cy="297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87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116600" y="749880"/>
            <a:ext cx="45432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Enabling managed identity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215240" y="1869841"/>
            <a:ext cx="4727160" cy="25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This allows my app to access Key Vault securely. 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/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3B9EFD0-4298-AF71-E2F9-F6B887C0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018" b="30110"/>
          <a:stretch>
            <a:fillRect/>
          </a:stretch>
        </p:blipFill>
        <p:spPr>
          <a:xfrm>
            <a:off x="484200" y="1119406"/>
            <a:ext cx="3497400" cy="29046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8C86-B763-2DB2-5E00-2C694FBE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CCE2B860-0804-A04C-F55F-05502156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00" y="699480"/>
            <a:ext cx="45432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Give Web App Access to Key Vault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>
            <a:extLst>
              <a:ext uri="{FF2B5EF4-FFF2-40B4-BE49-F238E27FC236}">
                <a16:creationId xmlns:a16="http://schemas.microsoft.com/office/drawing/2014/main" id="{016C4E6E-FF37-3285-BF31-C8738D506D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894200" y="653580"/>
            <a:ext cx="3719160" cy="25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Go to my key vault -&gt; IAM -&gt; add role assignment -&gt; choose key vault secrets user -&gt; select web-lynn 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E4592028-D913-BD10-CDDC-B9E2FFB5343A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A54363A-E385-D64D-F22B-43F28698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00" y="2002500"/>
            <a:ext cx="5943600" cy="2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68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8AEC-8FA5-9D9C-12F8-566B44EE7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DFB38466-8B82-2E4E-22B3-A18EEEF8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00" y="699480"/>
            <a:ext cx="45432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Virtual Machine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37FC3CE6-DB52-15C5-FF97-2E19A4299211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E930576-C74E-15F0-0893-D0E2D9E4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00" y="1238400"/>
            <a:ext cx="4469491" cy="3441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B6F0A-444F-516D-DA76-23A5B04453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129"/>
          <a:stretch>
            <a:fillRect/>
          </a:stretch>
        </p:blipFill>
        <p:spPr>
          <a:xfrm>
            <a:off x="4820491" y="1256592"/>
            <a:ext cx="3677400" cy="340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56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7875E-7576-040A-A9C1-A8C215B4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C061E19B-9E63-B619-D52A-006D90AF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00" y="699480"/>
            <a:ext cx="45432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Download RDP and log in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9F65A09E-DEBE-037E-A23D-7CD832198A66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BF8A67A-9231-2172-C0D0-77D0859F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00" y="1274727"/>
            <a:ext cx="5943600" cy="33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15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F20F-DC58-B9BF-3167-04923B12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159B5AD3-64A3-A449-FA41-912837DA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00" y="699480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Install requirements inside the VM: Node.js 20 LTS and GIT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8C1E2CB2-DE71-67F8-DDC7-5649AD41067C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56D44F7-80B4-5D7D-379B-1F402C357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90" y="2001790"/>
            <a:ext cx="3953820" cy="237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42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EF129-79B7-FAA7-3C7A-D158516D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B403F836-D21E-5FE5-C750-BA29BA4F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Install agent on VM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1685C674-F85A-29E5-2236-9AEA8336A644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22AA2D-FAD7-7E15-53E0-D91B34A24479}"/>
              </a:ext>
            </a:extLst>
          </p:cNvPr>
          <p:cNvSpPr txBox="1"/>
          <p:nvPr/>
        </p:nvSpPr>
        <p:spPr>
          <a:xfrm>
            <a:off x="4241700" y="1832538"/>
            <a:ext cx="4616100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 in to Azure DevOps -&gt; agent pools -&gt; default -&gt; new agent -&gt; download it -&gt; extract -&gt; configure -&gt; run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4625F-8768-9950-AB3E-394CF9CA0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0" y="1483267"/>
            <a:ext cx="3835800" cy="3215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8B773A-9999-D243-80E7-8D86E998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600" y="2934443"/>
            <a:ext cx="5556600" cy="136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4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4193-7794-1362-905B-756FD966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259;p32">
            <a:extLst>
              <a:ext uri="{FF2B5EF4-FFF2-40B4-BE49-F238E27FC236}">
                <a16:creationId xmlns:a16="http://schemas.microsoft.com/office/drawing/2014/main" id="{CB51E1E1-E8A8-CA37-2578-0A92FBE377BF}"/>
              </a:ext>
            </a:extLst>
          </p:cNvPr>
          <p:cNvPicPr/>
          <p:nvPr/>
        </p:nvPicPr>
        <p:blipFill>
          <a:blip r:embed="rId2"/>
          <a:srcRect l="20933" r="20933"/>
          <a:stretch/>
        </p:blipFill>
        <p:spPr>
          <a:xfrm flipH="1">
            <a:off x="6387120" y="947160"/>
            <a:ext cx="2107080" cy="2067120"/>
          </a:xfrm>
          <a:prstGeom prst="rect">
            <a:avLst/>
          </a:prstGeom>
          <a:noFill/>
          <a:ln w="19050">
            <a:solidFill>
              <a:srgbClr val="707070"/>
            </a:solidFill>
            <a:round/>
          </a:ln>
        </p:spPr>
      </p:pic>
      <p:sp>
        <p:nvSpPr>
          <p:cNvPr id="130" name="PlaceHolder 1">
            <a:extLst>
              <a:ext uri="{FF2B5EF4-FFF2-40B4-BE49-F238E27FC236}">
                <a16:creationId xmlns:a16="http://schemas.microsoft.com/office/drawing/2014/main" id="{F99F1709-DF9B-6EB7-6557-02605DC40A6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467160" y="3914640"/>
            <a:ext cx="5171760" cy="3785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algn="ctr"/>
            <a:r>
              <a:rPr lang="en-US" sz="1400" dirty="0">
                <a:solidFill>
                  <a:schemeClr val="dk1"/>
                </a:solidFill>
                <a:latin typeface="Roboto Mono"/>
                <a:ea typeface="Roboto Mono"/>
              </a:rPr>
              <a:t>Clone empty repos and push it locally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Roboto Mono"/>
              <a:ea typeface="Roboto Mono"/>
            </a:endParaRPr>
          </a:p>
        </p:txBody>
      </p:sp>
      <p:sp>
        <p:nvSpPr>
          <p:cNvPr id="131" name="PlaceHolder 2">
            <a:extLst>
              <a:ext uri="{FF2B5EF4-FFF2-40B4-BE49-F238E27FC236}">
                <a16:creationId xmlns:a16="http://schemas.microsoft.com/office/drawing/2014/main" id="{91AD414E-5FB8-7C46-884D-43C16ACC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40" y="1533600"/>
            <a:ext cx="3457080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lvl="0"/>
            <a:r>
              <a:rPr lang="en-US" dirty="0"/>
              <a:t>Azure Repos</a:t>
            </a:r>
          </a:p>
        </p:txBody>
      </p:sp>
      <p:sp>
        <p:nvSpPr>
          <p:cNvPr id="132" name="PlaceHolder 3">
            <a:extLst>
              <a:ext uri="{FF2B5EF4-FFF2-40B4-BE49-F238E27FC236}">
                <a16:creationId xmlns:a16="http://schemas.microsoft.com/office/drawing/2014/main" id="{70E0D8C3-A9A7-39FF-B452-B6A722DB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00" y="1914480"/>
            <a:ext cx="78084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 dirty="0">
                <a:solidFill>
                  <a:schemeClr val="dk2"/>
                </a:solidFill>
                <a:effectLst/>
                <a:uFillTx/>
                <a:latin typeface="Calibri"/>
                <a:ea typeface="VT323"/>
              </a:rPr>
              <a:t>03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263;p32">
            <a:extLst>
              <a:ext uri="{FF2B5EF4-FFF2-40B4-BE49-F238E27FC236}">
                <a16:creationId xmlns:a16="http://schemas.microsoft.com/office/drawing/2014/main" id="{37C388BB-05CC-236E-1A7F-3E34C13E4DB3}"/>
              </a:ext>
            </a:extLst>
          </p:cNvPr>
          <p:cNvGrpSpPr/>
          <p:nvPr/>
        </p:nvGrpSpPr>
        <p:grpSpPr>
          <a:xfrm>
            <a:off x="6386760" y="947160"/>
            <a:ext cx="2107080" cy="265320"/>
            <a:chOff x="6386760" y="947160"/>
            <a:chExt cx="2107080" cy="265320"/>
          </a:xfrm>
        </p:grpSpPr>
      </p:grpSp>
    </p:spTree>
    <p:extLst>
      <p:ext uri="{BB962C8B-B14F-4D97-AF65-F5344CB8AC3E}">
        <p14:creationId xmlns:p14="http://schemas.microsoft.com/office/powerpoint/2010/main" val="3264323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A93D-B09E-0D26-A65B-55F39AD5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9738EA4C-A949-078E-7B38-34896F3D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Clone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79ED88B5-D39E-097A-717F-05172A363076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2AD37E5-4B26-DDE9-ABE4-C5F105CA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00" y="1445894"/>
            <a:ext cx="5943600" cy="1643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A88EEF-5DC0-2F1C-BBAC-15B5FD141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400" y="2132410"/>
            <a:ext cx="4590926" cy="269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95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AAB37-A981-CA2B-DC9E-F7431111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DF18DFB3-B719-27E7-83C8-1AB8BEF7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Pushed Successfully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180E4B71-05F7-3927-EE9D-85DC199420FC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FF3CAC0-E85A-8E9E-13CC-321DA1FF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00" y="1489528"/>
            <a:ext cx="5943600" cy="285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28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FF0B-4474-E04F-D98B-9D2A04CE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64946D40-4E64-0DC0-86AE-36707D63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the build Pipeline (CI) YAML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7E66A688-56C7-9FC6-CFF5-617030F0FC3C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72E3AC8-87C9-9DF8-7D98-DD681081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00" y="1413426"/>
            <a:ext cx="3106865" cy="3089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5F7B7D-DF4F-B9F9-DF22-5BE45817F451}"/>
              </a:ext>
            </a:extLst>
          </p:cNvPr>
          <p:cNvSpPr txBox="1"/>
          <p:nvPr/>
        </p:nvSpPr>
        <p:spPr>
          <a:xfrm>
            <a:off x="3889865" y="1413426"/>
            <a:ext cx="4572000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pipeline:</a:t>
            </a:r>
          </a:p>
          <a:p>
            <a:pPr marL="342900" marR="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Installs Node.js 20</a:t>
            </a:r>
          </a:p>
          <a:p>
            <a:pPr marL="342900" marR="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Installs dependencies (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install)</a:t>
            </a:r>
          </a:p>
          <a:p>
            <a:pPr marL="342900" marR="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Creates a ZIP file containing entire project</a:t>
            </a:r>
          </a:p>
          <a:p>
            <a:pPr marL="342900" marR="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Publishes the ZIP as a build artifact (for the Release pipeline)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5488B-E229-A66E-559F-820DBC719A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083" t="69756" r="13083" b="-1042"/>
          <a:stretch>
            <a:fillRect/>
          </a:stretch>
        </p:blipFill>
        <p:spPr>
          <a:xfrm>
            <a:off x="2863865" y="3766074"/>
            <a:ext cx="5943600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90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D6D9A-A154-EFCF-9942-098EDFE4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1BE73116-DFF4-4DFA-8883-E7E99CB1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the Release Pipeline (CD)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AFE8AB4B-FE98-5382-D983-AB39A7889C0D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46408C6-888F-DF34-09D9-AA9A6832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00" y="1448617"/>
            <a:ext cx="5943600" cy="29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29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6D28-6B58-35C6-53CE-A8AE3BF5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CD716E99-E85E-874C-079B-8F03EE8AA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Add an artifact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C9DE0FC8-17D2-448E-C5C1-6E199FEACFF3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80C319-9F13-93FB-57E9-67A3C52E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00" y="1462404"/>
            <a:ext cx="2971800" cy="32537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E88DD4-C009-9EC4-6B68-796257C48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821" y="1470954"/>
            <a:ext cx="5294979" cy="300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17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EE0A-14CD-75B4-E41F-BFA9CC68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C5E4D72E-04FC-4024-1D2C-A1502DE5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Configure Web App to use Key Vault Secrets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D81B6BB1-5DFB-24CE-1DED-9C31E8F7C873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B1ADCC-9771-D0B4-ADDE-82E68E4502A1}"/>
              </a:ext>
            </a:extLst>
          </p:cNvPr>
          <p:cNvSpPr txBox="1"/>
          <p:nvPr/>
        </p:nvSpPr>
        <p:spPr>
          <a:xfrm>
            <a:off x="201600" y="1102727"/>
            <a:ext cx="8740800" cy="641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be able to connect to SQL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Now go to environment variables -&gt; app settings and add the variables, copy the link from key vault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kv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-lynn.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BDEEF6-3230-B1CB-492E-AC538997C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27"/>
          <a:stretch>
            <a:fillRect/>
          </a:stretch>
        </p:blipFill>
        <p:spPr>
          <a:xfrm>
            <a:off x="338400" y="1802227"/>
            <a:ext cx="4444200" cy="2875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57AA6-6399-CDB8-5902-92313C700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60"/>
          <a:stretch>
            <a:fillRect/>
          </a:stretch>
        </p:blipFill>
        <p:spPr>
          <a:xfrm>
            <a:off x="4892400" y="1802227"/>
            <a:ext cx="4050000" cy="27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31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1BA7A-4769-5FE2-C3E6-FCAD975E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C32DA421-562B-1314-8317-D0B57EE0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0704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Web Result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FDDD6316-C7A4-F43D-1710-FDC9A0E9DBC9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345148C-5015-54CC-29C9-8E2DE2EBA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0" y="1573596"/>
            <a:ext cx="6148800" cy="298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78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5021-A0C1-5F6F-54DD-1D444524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259;p32">
            <a:extLst>
              <a:ext uri="{FF2B5EF4-FFF2-40B4-BE49-F238E27FC236}">
                <a16:creationId xmlns:a16="http://schemas.microsoft.com/office/drawing/2014/main" id="{35A59B65-5AB8-BFB5-093C-3305F297C2DA}"/>
              </a:ext>
            </a:extLst>
          </p:cNvPr>
          <p:cNvPicPr/>
          <p:nvPr/>
        </p:nvPicPr>
        <p:blipFill>
          <a:blip r:embed="rId2"/>
          <a:srcRect l="20933" r="20933"/>
          <a:stretch/>
        </p:blipFill>
        <p:spPr>
          <a:xfrm flipH="1">
            <a:off x="6387120" y="947160"/>
            <a:ext cx="2107080" cy="2067120"/>
          </a:xfrm>
          <a:prstGeom prst="rect">
            <a:avLst/>
          </a:prstGeom>
          <a:noFill/>
          <a:ln w="19050">
            <a:solidFill>
              <a:srgbClr val="707070"/>
            </a:solidFill>
            <a:round/>
          </a:ln>
        </p:spPr>
      </p:pic>
      <p:sp>
        <p:nvSpPr>
          <p:cNvPr id="131" name="PlaceHolder 2">
            <a:extLst>
              <a:ext uri="{FF2B5EF4-FFF2-40B4-BE49-F238E27FC236}">
                <a16:creationId xmlns:a16="http://schemas.microsoft.com/office/drawing/2014/main" id="{5821A207-88FB-5B18-4C27-ED13D6CF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40" y="1533600"/>
            <a:ext cx="3457080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lvl="0"/>
            <a:r>
              <a:rPr lang="en-US" dirty="0"/>
              <a:t>Function App</a:t>
            </a:r>
          </a:p>
        </p:txBody>
      </p:sp>
      <p:sp>
        <p:nvSpPr>
          <p:cNvPr id="132" name="PlaceHolder 3">
            <a:extLst>
              <a:ext uri="{FF2B5EF4-FFF2-40B4-BE49-F238E27FC236}">
                <a16:creationId xmlns:a16="http://schemas.microsoft.com/office/drawing/2014/main" id="{1C2C5DAF-25B6-C1D1-D659-1C7C88C8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00" y="1914480"/>
            <a:ext cx="78084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 dirty="0">
                <a:solidFill>
                  <a:schemeClr val="dk2"/>
                </a:solidFill>
                <a:effectLst/>
                <a:uFillTx/>
                <a:latin typeface="Calibri"/>
                <a:ea typeface="VT323"/>
              </a:rPr>
              <a:t>03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263;p32">
            <a:extLst>
              <a:ext uri="{FF2B5EF4-FFF2-40B4-BE49-F238E27FC236}">
                <a16:creationId xmlns:a16="http://schemas.microsoft.com/office/drawing/2014/main" id="{9FB25A55-E563-4217-062D-F5C94E87BC9E}"/>
              </a:ext>
            </a:extLst>
          </p:cNvPr>
          <p:cNvGrpSpPr/>
          <p:nvPr/>
        </p:nvGrpSpPr>
        <p:grpSpPr>
          <a:xfrm>
            <a:off x="6386760" y="947160"/>
            <a:ext cx="2107080" cy="265320"/>
            <a:chOff x="6386760" y="947160"/>
            <a:chExt cx="2107080" cy="265320"/>
          </a:xfrm>
        </p:grpSpPr>
      </p:grpSp>
    </p:spTree>
    <p:extLst>
      <p:ext uri="{BB962C8B-B14F-4D97-AF65-F5344CB8AC3E}">
        <p14:creationId xmlns:p14="http://schemas.microsoft.com/office/powerpoint/2010/main" val="1063528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F2BFD-A375-7308-5F69-BDE615EC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614B56DD-13BD-7DAF-E9F0-7FBE35933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Function App Azure Portal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D18B7BF5-23D1-D6E8-E5F8-718FF7FE8772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251377-C3EE-CF52-0226-26BBF5BB6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00" y="1406910"/>
            <a:ext cx="4282200" cy="29970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7B3E21-B337-0823-9FE4-50826E39A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208" r="17080" b="27220"/>
          <a:stretch>
            <a:fillRect/>
          </a:stretch>
        </p:blipFill>
        <p:spPr>
          <a:xfrm>
            <a:off x="3580200" y="1388918"/>
            <a:ext cx="4928400" cy="98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1EA263-4AAE-F404-B94A-725566525C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98" r="23592"/>
          <a:stretch>
            <a:fillRect/>
          </a:stretch>
        </p:blipFill>
        <p:spPr>
          <a:xfrm>
            <a:off x="3702600" y="2375318"/>
            <a:ext cx="4541400" cy="234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82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772B-7682-4351-98AF-5818C7F25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9450C1A4-B062-9866-BD9A-3DEF08B2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Enable managed identity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7F445F74-378F-5667-6679-12150B52C453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2543D2C-672E-FB89-A40F-EF411BED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00" y="1562368"/>
            <a:ext cx="5943600" cy="28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90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3270-F587-B822-5B6B-F49E3E0E0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BEDB4691-CACB-7AD9-7AEF-7E3FF278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Give Function App access Key Vault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8C61B9C8-88F5-D501-923A-B5ED3521585E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E5508CF-1E2E-65A8-A4E2-0C348BAF6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00" y="1679843"/>
            <a:ext cx="59436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67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9A9E-DC9B-5CAE-536F-4A5749A7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AF0E0B71-3143-B43B-9CC6-4CD01EF0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Functions Locally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5D529821-24A0-AAE8-F522-245B0B9E3AAC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C6A5DC-5D3E-E5AA-EA8E-F1A36D2CB410}"/>
              </a:ext>
            </a:extLst>
          </p:cNvPr>
          <p:cNvSpPr txBox="1"/>
          <p:nvPr/>
        </p:nvSpPr>
        <p:spPr>
          <a:xfrm>
            <a:off x="316800" y="1239527"/>
            <a:ext cx="8740800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HTTP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D10161-83DC-1728-37A2-B47D30898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999" y="1335044"/>
            <a:ext cx="4642927" cy="32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93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08F9-AA04-5613-820A-ABB33882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945E049D-DA1F-ACD0-6B24-C3F1982B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Functions Locally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AA6E1553-1507-9ECE-9891-BFE182274398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8F27A6-134F-A60E-7220-73A1DBC0876D}"/>
              </a:ext>
            </a:extLst>
          </p:cNvPr>
          <p:cNvSpPr txBox="1"/>
          <p:nvPr/>
        </p:nvSpPr>
        <p:spPr>
          <a:xfrm>
            <a:off x="468000" y="1261127"/>
            <a:ext cx="8740800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Fetch Analytics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F2C75-46FC-6CA2-4E0E-F0EF4B331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192" y="1734744"/>
            <a:ext cx="4903815" cy="28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91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B5BE-3AF8-4545-ABB4-FFA2A004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B4D1D3F3-90D2-0E4F-DDA2-B2B60336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39507"/>
            <a:ext cx="78930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Push to Azure Repos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10FE5972-5034-F19B-C8C0-07D60743BA0B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3604DCF-77AF-5270-CBA1-D21330AF6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68067"/>
            <a:ext cx="59436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8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2E28-70EE-3CFB-0B8D-BBD719ED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53B0E78E-0313-27B6-3EA6-2344F8674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0" y="797107"/>
            <a:ext cx="79362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Create the CI pipeline for </a:t>
            </a:r>
            <a:r>
              <a:rPr lang="en-US" sz="3200" b="0" u="none" strike="noStrike" dirty="0" err="1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FunctionApp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62CDD5BB-02F2-3D1B-F868-89389E655A29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9C9C20-5793-79B0-6640-B07C8C6359AF}"/>
              </a:ext>
            </a:extLst>
          </p:cNvPr>
          <p:cNvSpPr txBox="1"/>
          <p:nvPr/>
        </p:nvSpPr>
        <p:spPr>
          <a:xfrm>
            <a:off x="4037400" y="1425667"/>
            <a:ext cx="457200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pipeline will: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✔ Install Node.js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✔ Install Azure Functions Core Tools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✔ Install dependencies for your </a:t>
            </a:r>
            <a:r>
              <a:rPr lang="en-US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FunctionApp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✔ Package it into a ZIP file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✔ Publish it as an artifact for the Release Pipeline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828C0A-C7DD-3471-430C-254F017E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5" y="1648727"/>
            <a:ext cx="3276276" cy="2881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E9C87F-03FD-D65D-C062-A14E3554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26" r="26620" b="65201"/>
          <a:stretch>
            <a:fillRect/>
          </a:stretch>
        </p:blipFill>
        <p:spPr>
          <a:xfrm>
            <a:off x="4113000" y="3584393"/>
            <a:ext cx="4361400" cy="9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42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3023-59F6-C5FB-D6F4-38093AC0F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>
            <a:extLst>
              <a:ext uri="{FF2B5EF4-FFF2-40B4-BE49-F238E27FC236}">
                <a16:creationId xmlns:a16="http://schemas.microsoft.com/office/drawing/2014/main" id="{BBD72E91-92D7-7165-959B-828DFE6C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00" y="721002"/>
            <a:ext cx="9246600" cy="12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Function App Result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Google Shape;252;p31">
            <a:extLst>
              <a:ext uri="{FF2B5EF4-FFF2-40B4-BE49-F238E27FC236}">
                <a16:creationId xmlns:a16="http://schemas.microsoft.com/office/drawing/2014/main" id="{6B22C62B-066A-9537-AE56-8E4132C563AB}"/>
              </a:ext>
            </a:extLst>
          </p:cNvPr>
          <p:cNvGrpSpPr/>
          <p:nvPr/>
        </p:nvGrpSpPr>
        <p:grpSpPr>
          <a:xfrm>
            <a:off x="511200" y="947160"/>
            <a:ext cx="2970720" cy="265320"/>
            <a:chOff x="511200" y="947160"/>
            <a:chExt cx="2970720" cy="265320"/>
          </a:xfrm>
        </p:grpSpPr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41B7DBB-17C3-7F61-F59D-9E5B2F00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0" y="1349562"/>
            <a:ext cx="3914416" cy="1180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D9747-AC71-3D50-CB0B-88D3867D0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0" y="2954139"/>
            <a:ext cx="4975200" cy="1145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954F46-564E-35ED-2354-E9D253FCA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600" y="2500353"/>
            <a:ext cx="5817600" cy="48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91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66720" y="600840"/>
            <a:ext cx="3847680" cy="164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Thank you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0BA83-A1E7-4FB3-2832-6E9952695B20}"/>
              </a:ext>
            </a:extLst>
          </p:cNvPr>
          <p:cNvSpPr/>
          <p:nvPr/>
        </p:nvSpPr>
        <p:spPr>
          <a:xfrm>
            <a:off x="4809600" y="2397600"/>
            <a:ext cx="3333600" cy="892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Holder 2"/>
          <p:cNvSpPr txBox="1">
            <a:spLocks/>
          </p:cNvSpPr>
          <p:nvPr/>
        </p:nvSpPr>
        <p:spPr>
          <a:xfrm>
            <a:off x="4914720" y="2450548"/>
            <a:ext cx="3685680" cy="3693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200" dirty="0">
                <a:solidFill>
                  <a:schemeClr val="dk1"/>
                </a:solidFill>
                <a:latin typeface="Roboto Mono"/>
                <a:ea typeface="Roboto Mono"/>
              </a:rPr>
              <a:t>Do you have any questions?</a:t>
            </a:r>
            <a:endParaRPr lang="en-US" sz="120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391</Words>
  <Application>Microsoft Office PowerPoint</Application>
  <PresentationFormat>On-screen Show (16:9)</PresentationFormat>
  <Paragraphs>75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OpenSymbol</vt:lpstr>
      <vt:lpstr>Roboto Mono</vt:lpstr>
      <vt:lpstr>Symbol</vt:lpstr>
      <vt:lpstr>VT323</vt:lpstr>
      <vt:lpstr>Wingdings</vt:lpstr>
      <vt:lpstr>My Presentation Template</vt:lpstr>
      <vt:lpstr>My Presentation Template</vt:lpstr>
      <vt:lpstr>Slidesgo Final Pages</vt:lpstr>
      <vt:lpstr>Azure  Project</vt:lpstr>
      <vt:lpstr>Project  Setup</vt:lpstr>
      <vt:lpstr>Creating a new Project</vt:lpstr>
      <vt:lpstr>Add tasks in Azure Boards</vt:lpstr>
      <vt:lpstr>Boards</vt:lpstr>
      <vt:lpstr>Boards</vt:lpstr>
      <vt:lpstr>Boards</vt:lpstr>
      <vt:lpstr>Create Azure Resources</vt:lpstr>
      <vt:lpstr>Create Resource Group</vt:lpstr>
      <vt:lpstr>Create Storage Account</vt:lpstr>
      <vt:lpstr>Create Azure SQL Server + DB</vt:lpstr>
      <vt:lpstr>Create Azure SQL Server + DB</vt:lpstr>
      <vt:lpstr>Create Azure SQL Server + DB</vt:lpstr>
      <vt:lpstr>Create the Messages Table</vt:lpstr>
      <vt:lpstr>Writing Query</vt:lpstr>
      <vt:lpstr>Create the Key Vault + Add Secrets</vt:lpstr>
      <vt:lpstr>Create the Key Vault + Add Secrets</vt:lpstr>
      <vt:lpstr>Create the Key Vault + Add Secrets</vt:lpstr>
      <vt:lpstr>Create the Azure Web App Node.js </vt:lpstr>
      <vt:lpstr>Enabling managed identity</vt:lpstr>
      <vt:lpstr>Give Web App Access to Key Vault</vt:lpstr>
      <vt:lpstr>Create Virtual Machine</vt:lpstr>
      <vt:lpstr>Download RDP and log in</vt:lpstr>
      <vt:lpstr>Install requirements inside the VM: Node.js 20 LTS and GIT</vt:lpstr>
      <vt:lpstr>Install agent on VM</vt:lpstr>
      <vt:lpstr>Azure Repos</vt:lpstr>
      <vt:lpstr>Clone</vt:lpstr>
      <vt:lpstr>Pushed Successfully</vt:lpstr>
      <vt:lpstr>Create the build Pipeline (CI) YAML</vt:lpstr>
      <vt:lpstr>Create the Release Pipeline (CD)</vt:lpstr>
      <vt:lpstr>Add an artifact</vt:lpstr>
      <vt:lpstr>Configure Web App to use Key Vault Secrets</vt:lpstr>
      <vt:lpstr>Web Result</vt:lpstr>
      <vt:lpstr>Function App</vt:lpstr>
      <vt:lpstr>Create Function App Azure Portal</vt:lpstr>
      <vt:lpstr>Enable managed identity</vt:lpstr>
      <vt:lpstr>Give Function App access Key Vault</vt:lpstr>
      <vt:lpstr>Create Functions Locally</vt:lpstr>
      <vt:lpstr>Create Functions Locally</vt:lpstr>
      <vt:lpstr>Push to Azure Repos</vt:lpstr>
      <vt:lpstr>Create the CI pipeline for FunctionApp</vt:lpstr>
      <vt:lpstr>Function App Result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lynn haydar</cp:lastModifiedBy>
  <cp:revision>9</cp:revision>
  <dcterms:modified xsi:type="dcterms:W3CDTF">2025-12-02T19:15:42Z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2025-11-25T21:02:06Z</dcterms:created>
  <dc:creator>Unknown Creator</dc:creator>
  <dc:description/>
  <dc:language>en-US</dc:language>
  <cp:lastModifiedBy>Unknown Creator</cp:lastModifiedBy>
  <dcterms:modified xsi:type="dcterms:W3CDTF">2025-11-25T21:02:06Z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